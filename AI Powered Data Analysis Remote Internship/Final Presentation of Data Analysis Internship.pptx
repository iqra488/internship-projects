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5421</c:v>
                </c:pt>
                <c:pt idx="1">
                  <c:v>2037</c:v>
                </c:pt>
                <c:pt idx="2">
                  <c:v>545</c:v>
                </c:pt>
                <c:pt idx="3">
                  <c:v>425</c:v>
                </c:pt>
                <c:pt idx="4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A3-421B-95AA-4A09685F8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a047ba2-a161-4655-bc35-a5072a6162f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Corrupted Entries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Apply Date</c:v>
                </c:pt>
                <c:pt idx="1">
                  <c:v>Learner SignUp</c:v>
                </c:pt>
                <c:pt idx="2">
                  <c:v>Opportunity Start</c:v>
                </c:pt>
                <c:pt idx="3">
                  <c:v>Opportunity End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307</c:v>
                </c:pt>
                <c:pt idx="1">
                  <c:v>295</c:v>
                </c:pt>
                <c:pt idx="2">
                  <c:v>843</c:v>
                </c:pt>
                <c:pt idx="3">
                  <c:v>1262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2-4722-9E9A-B06139E86A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82e6f6e-f1b8-4c79-aa5c-8a490a67862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BC-4A6F-A7E5-01E6F95A2547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BC-4A6F-A7E5-01E6F95A2547}"/>
              </c:ext>
            </c:extLst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BC-4A6F-A7E5-01E6F95A2547}"/>
              </c:ext>
            </c:extLst>
          </c:dPt>
          <c:dPt>
            <c:idx val="3"/>
            <c:bubble3D val="0"/>
            <c:spPr>
              <a:solidFill>
                <a:srgbClr val="212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BC-4A6F-A7E5-01E6F95A2547}"/>
              </c:ext>
            </c:extLst>
          </c:dPt>
          <c:dPt>
            <c:idx val="4"/>
            <c:bubble3D val="0"/>
            <c:spPr>
              <a:solidFill>
                <a:srgbClr val="9FB7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BC-4A6F-A7E5-01E6F95A2547}"/>
              </c:ext>
            </c:extLst>
          </c:dPt>
          <c:dPt>
            <c:idx val="5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4BC-4A6F-A7E5-01E6F95A2547}"/>
              </c:ext>
            </c:extLst>
          </c:dPt>
          <c:dPt>
            <c:idx val="6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4BC-4A6F-A7E5-01E6F95A2547}"/>
              </c:ext>
            </c:extLst>
          </c:dPt>
          <c:dPt>
            <c:idx val="7"/>
            <c:bubble3D val="0"/>
            <c:spPr>
              <a:solidFill>
                <a:srgbClr val="3F7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4BC-4A6F-A7E5-01E6F95A2547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BC-4A6F-A7E5-01E6F95A2547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BC-4A6F-A7E5-01E6F95A2547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BC-4A6F-A7E5-01E6F95A2547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BC-4A6F-A7E5-01E6F95A2547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BC-4A6F-A7E5-01E6F95A2547}"/>
                </c:ext>
              </c:extLst>
            </c:dLbl>
            <c:dLbl>
              <c:idx val="5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4BC-4A6F-A7E5-01E6F95A2547}"/>
                </c:ext>
              </c:extLst>
            </c:dLbl>
            <c:dLbl>
              <c:idx val="6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4BC-4A6F-A7E5-01E6F95A2547}"/>
                </c:ext>
              </c:extLst>
            </c:dLbl>
            <c:dLbl>
              <c:idx val="7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8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4BC-4A6F-A7E5-01E6F95A254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Rejected</c:v>
                </c:pt>
                <c:pt idx="1">
                  <c:v>Team Allocated</c:v>
                </c:pt>
                <c:pt idx="2">
                  <c:v>Started</c:v>
                </c:pt>
                <c:pt idx="3">
                  <c:v>Dropped Out</c:v>
                </c:pt>
                <c:pt idx="4">
                  <c:v>Applied</c:v>
                </c:pt>
                <c:pt idx="5">
                  <c:v>Withdraw</c:v>
                </c:pt>
                <c:pt idx="6">
                  <c:v>Waitlisted</c:v>
                </c:pt>
                <c:pt idx="7">
                  <c:v>Rewards Award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3569</c:v>
                </c:pt>
                <c:pt idx="1">
                  <c:v>3276</c:v>
                </c:pt>
                <c:pt idx="2">
                  <c:v>767</c:v>
                </c:pt>
                <c:pt idx="3">
                  <c:v>617</c:v>
                </c:pt>
                <c:pt idx="4">
                  <c:v>105</c:v>
                </c:pt>
                <c:pt idx="5">
                  <c:v>85</c:v>
                </c:pt>
                <c:pt idx="6">
                  <c:v>109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4BC-4A6F-A7E5-01E6F95A254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 rot="0" spcFirstLastPara="0" vertOverflow="ellipsis" vert="horz" wrap="square" anchor="ctr" anchorCtr="1"/>
        <a:lstStyle/>
        <a:p>
          <a:pPr>
            <a:defRPr lang="en-US" sz="950" b="0" i="0" u="none" strike="noStrike" kern="1200" baseline="0">
              <a:solidFill>
                <a:srgbClr val="1E2430"/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46a0eaa-b10f-41a3-b86f-a7e45ebc5cb4}"/>
      </c:ext>
    </c:extLst>
  </c:chart>
  <c:spPr>
    <a:solidFill>
      <a:srgbClr val="F5F7FA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Other/RoW</c:v>
                </c:pt>
                <c:pt idx="1">
                  <c:v>Africa</c:v>
                </c:pt>
                <c:pt idx="2">
                  <c:v>South Asia</c:v>
                </c:pt>
                <c:pt idx="3">
                  <c:v>North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66.8</c:v>
                </c:pt>
                <c:pt idx="1">
                  <c:v>60</c:v>
                </c:pt>
                <c:pt idx="2">
                  <c:v>51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D2-4B67-8B0E-95D0164C59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8881649-3d3b-41b4-b33a-f285f32cee0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34-414A-B142-4E7D86268AF4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34-414A-B142-4E7D86268AF4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34-414A-B142-4E7D86268AF4}"/>
              </c:ext>
            </c:extLst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34-414A-B142-4E7D86268A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 application</c:v>
                </c:pt>
                <c:pt idx="1">
                  <c:v>2 applications</c:v>
                </c:pt>
                <c:pt idx="2">
                  <c:v>3 applications</c:v>
                </c:pt>
                <c:pt idx="3">
                  <c:v>4+ applications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1443</c:v>
                </c:pt>
                <c:pt idx="1">
                  <c:v>523</c:v>
                </c:pt>
                <c:pt idx="2">
                  <c:v>252</c:v>
                </c:pt>
                <c:pt idx="3">
                  <c:v>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34-414A-B142-4E7D86268A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612fbf4-5762-4bb4-a815-e0a3021e848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India</c:v>
                </c:pt>
                <c:pt idx="2">
                  <c:v>Nigeria</c:v>
                </c:pt>
                <c:pt idx="3">
                  <c:v>Pakistan</c:v>
                </c:pt>
                <c:pt idx="4">
                  <c:v>Bangladesh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3975</c:v>
                </c:pt>
                <c:pt idx="1">
                  <c:v>2830</c:v>
                </c:pt>
                <c:pt idx="2">
                  <c:v>759</c:v>
                </c:pt>
                <c:pt idx="3">
                  <c:v>218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D3-4675-A99D-4B8235205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f5e8be4-0dd2-4962-ac59-f9cdf0cbb4a2}"/>
      </c:ext>
    </c:extLst>
  </c:chart>
  <c:spPr>
    <a:solidFill>
      <a:srgbClr val="F5F7FA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%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21.5</c:v>
                </c:pt>
                <c:pt idx="1">
                  <c:v>92.3</c:v>
                </c:pt>
                <c:pt idx="2">
                  <c:v>94.1</c:v>
                </c:pt>
                <c:pt idx="3">
                  <c:v>84.2</c:v>
                </c:pt>
                <c:pt idx="4">
                  <c:v>96.9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37-4ED0-943A-3661DBE890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71b84c-91ae-452b-968d-185fec84d39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E2-47AD-A783-4C673F1919E2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E2-47AD-A783-4C673F1919E2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E2-47AD-A783-4C673F1919E2}"/>
              </c:ext>
            </c:extLst>
          </c:dPt>
          <c:dPt>
            <c:idx val="3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E2-47AD-A783-4C673F1919E2}"/>
              </c:ext>
            </c:extLst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950" b="0" i="0" u="none" strike="noStrike" kern="1200" baseline="0">
                        <a:solidFill>
                          <a:srgbClr val="FFFFFF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en-PK"/>
                      <a:t>58.7%</a:t>
                    </a:r>
                  </a:p>
                </c:rich>
              </c:tx>
              <c:numFmt formatCode="0%" sourceLinked="0"/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E2-47AD-A783-4C673F1919E2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E2-47AD-A783-4C673F1919E2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E2-47AD-A783-4C673F1919E2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5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AE2-47AD-A783-4C673F1919E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Male</c:v>
                </c:pt>
                <c:pt idx="1">
                  <c:v>Female</c:v>
                </c:pt>
                <c:pt idx="2">
                  <c:v>Don't want to specify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58.7</c:v>
                </c:pt>
                <c:pt idx="1">
                  <c:v>41.4</c:v>
                </c:pt>
                <c:pt idx="2">
                  <c:v>0.2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E2-47AD-A783-4C673F1919E2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1E2430"/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bfcbc59-a2c4-4950-8ec5-10c023829ce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Info. Systems</c:v>
                </c:pt>
                <c:pt idx="1">
                  <c:v>Comp. Science</c:v>
                </c:pt>
                <c:pt idx="2">
                  <c:v>Health Data Sci.</c:v>
                </c:pt>
                <c:pt idx="3">
                  <c:v>Cyber Security</c:v>
                </c:pt>
                <c:pt idx="4">
                  <c:v>Comp. Info. Sys.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2158</c:v>
                </c:pt>
                <c:pt idx="1">
                  <c:v>1051</c:v>
                </c:pt>
                <c:pt idx="2">
                  <c:v>371</c:v>
                </c:pt>
                <c:pt idx="3">
                  <c:v>326</c:v>
                </c:pt>
                <c:pt idx="4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28-460C-8DE6-6F23A7018F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c56444e-eabf-4cf4-ba8e-f5fb883f66f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229-4838-B39D-5D68841A7299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229-4838-B39D-5D68841A7299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229-4838-B39D-5D68841A729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 (pilot)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3595</c:v>
                </c:pt>
                <c:pt idx="2">
                  <c:v>4603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229-4838-B39D-5D68841A72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d3b3613-4eed-4da6-94d1-179d7ad7482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D2E-48F9-84D5-4AF15B0D194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2E-48F9-84D5-4AF15B0D194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4D2E-48F9-84D5-4AF15B0D194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2E-48F9-84D5-4AF15B0D1948}"/>
              </c:ext>
            </c:extLst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2E-48F9-84D5-4AF15B0D19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Log. Reg.</c:v>
                </c:pt>
                <c:pt idx="1">
                  <c:v>KNN</c:v>
                </c:pt>
                <c:pt idx="2">
                  <c:v>Dec. Tree</c:v>
                </c:pt>
                <c:pt idx="3">
                  <c:v>Rand. 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89.85</c:v>
                </c:pt>
                <c:pt idx="1">
                  <c:v>90</c:v>
                </c:pt>
                <c:pt idx="2">
                  <c:v>91.28</c:v>
                </c:pt>
                <c:pt idx="3">
                  <c:v>91.94</c:v>
                </c:pt>
                <c:pt idx="4">
                  <c:v>92.96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2E-48F9-84D5-4AF15B0D19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5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fc9fe58-9dc7-4b2a-8397-004d5eefb85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1E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Category_Encoded</c:v>
                </c:pt>
                <c:pt idx="1">
                  <c:v>Signup_Year</c:v>
                </c:pt>
                <c:pt idx="2">
                  <c:v>Signup_Month</c:v>
                </c:pt>
                <c:pt idx="3">
                  <c:v>Days_Signup_to_Apply</c:v>
                </c:pt>
                <c:pt idx="4">
                  <c:v>Apps_Per_Student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74.510000000000005</c:v>
                </c:pt>
                <c:pt idx="1">
                  <c:v>10.8</c:v>
                </c:pt>
                <c:pt idx="2">
                  <c:v>4.25</c:v>
                </c:pt>
                <c:pt idx="3">
                  <c:v>3.09</c:v>
                </c:pt>
                <c:pt idx="4">
                  <c:v>1.73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0-421B-B841-FCE915C5E8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e6c5f70-c6b4-453d-ae08-136ef567982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PK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430pffXZnNGsJG812uSyaIsCTCcl1Fcr?usp=drive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400" y="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40090" y="3017520"/>
            <a:ext cx="3851910" cy="3840480"/>
          </a:xfrm>
          <a:prstGeom prst="ellipse">
            <a:avLst/>
          </a:prstGeom>
          <a:solidFill>
            <a:srgbClr val="1C7293">
              <a:alpha val="5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6868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Records to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Predictive Insights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Full, Detailed Consolidated Report on Student Participation, Engagement, and Success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 – 4  ·  Data Understanding  ·  Cleaning  ·  Cohort Analysis  ·  EDA  ·  Predictive Modeling  ·  Recommendations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Rameen Shahzad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5074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Lorenzo Miguel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5074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Iqra Muqaddas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66760" y="5074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Ronan Patrick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Johnson Modinat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5440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Vaishnavi Kedare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5440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Yvvone Muli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54406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Anushka Poshattiwar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5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Excelerate Externship Program  ·  2026</a:t>
            </a:r>
            <a:endParaRPr lang="en-US" sz="10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9D59D13-9C7D-EEFD-0691-E13DF1ECFF42}"/>
              </a:ext>
            </a:extLst>
          </p:cNvPr>
          <p:cNvSpPr/>
          <p:nvPr/>
        </p:nvSpPr>
        <p:spPr>
          <a:xfrm>
            <a:off x="5231130" y="5803900"/>
            <a:ext cx="6675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br>
              <a:rPr lang="en-US" sz="1300" dirty="0"/>
            </a:br>
            <a:r>
              <a:rPr lang="en-US" sz="1500" dirty="0">
                <a:solidFill>
                  <a:schemeClr val="bg1"/>
                </a:solidFill>
              </a:rPr>
              <a:t>Final Report and Presentation Video:</a:t>
            </a:r>
          </a:p>
          <a:p>
            <a:pPr marL="0" indent="0">
              <a:buNone/>
            </a:pPr>
            <a:r>
              <a:rPr lang="en-US" sz="1300" dirty="0">
                <a:hlinkClick r:id="rId3"/>
              </a:rPr>
              <a:t>https://drive.google.com/drive/folders/1430pffXZnNGsJG812uSyaIsCTCcl1Fcr?usp=drive_link</a:t>
            </a:r>
            <a:br>
              <a:rPr lang="en-US" sz="1300" dirty="0"/>
            </a:b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weeks, one continuous analytical thread — from raw CSV to deployable prediction model and a strategic action 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42032" cy="822960"/>
          </a:xfrm>
          <a:prstGeom prst="rect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801368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96312" y="1856232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692" y="1921612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51760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044952"/>
            <a:ext cx="217627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Understanding &amp; Initial Cleaning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2176272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dictionary, quality assessment, first-pass cleaning of text, name, and date fields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38144" y="169164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38144" y="1691640"/>
            <a:ext cx="2542032" cy="822960"/>
          </a:xfrm>
          <a:prstGeom prst="rect">
            <a:avLst/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02736" y="1801368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294376" y="1856232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756" y="1921612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21024" y="2651760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2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621024" y="3044952"/>
            <a:ext cx="217627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Cohort Analysis &amp; Exploratory Data Analysis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621024" y="3749040"/>
            <a:ext cx="2176272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engineering, cohort segmentation, demographic, temporal, and interpretive analysis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36208" y="169164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36208" y="1691640"/>
            <a:ext cx="2542032" cy="822960"/>
          </a:xfrm>
          <a:prstGeom prst="rect">
            <a:avLst/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00800" y="1801368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8092440" y="1856232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820" y="1921612"/>
            <a:ext cx="372161" cy="37216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19088" y="2651760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3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419088" y="3044952"/>
            <a:ext cx="217627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Modeling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19088" y="3749040"/>
            <a:ext cx="2176272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ML models trained, compared, and interpreted to predict participation success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9034272" y="169164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034272" y="1691640"/>
            <a:ext cx="2542032" cy="822960"/>
          </a:xfrm>
          <a:prstGeom prst="rect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198864" y="1801368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10890504" y="1856232"/>
            <a:ext cx="502920" cy="502920"/>
          </a:xfrm>
          <a:prstGeom prst="ellipse">
            <a:avLst/>
          </a:prstGeom>
          <a:solidFill>
            <a:srgbClr val="FFFFFF">
              <a:alpha val="3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5884" y="1921612"/>
            <a:ext cx="372161" cy="37216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17152" y="2651760"/>
            <a:ext cx="21762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4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9217152" y="3044952"/>
            <a:ext cx="217627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&amp; Recommendations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217152" y="3749040"/>
            <a:ext cx="2176272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Evidence-based strategy, KPIs, and process reflections for future cohorts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 the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participation records across courses, internships, competitions, events, and engagement programs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810512"/>
            <a:ext cx="218541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8,558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532888"/>
            <a:ext cx="21854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1810512"/>
            <a:ext cx="218541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2532888"/>
            <a:ext cx="21854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3364992"/>
            <a:ext cx="218541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" y="4087368"/>
            <a:ext cx="21854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countries represented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3246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02152" y="3364992"/>
            <a:ext cx="218541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02152" y="4087368"/>
            <a:ext cx="21854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16459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by Opportunity Category</a:t>
            </a:r>
            <a:endParaRPr lang="en-US" sz="13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0" y="1965960"/>
          <a:ext cx="6035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40080" y="47091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957420"/>
            <a:ext cx="372161" cy="37216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08760" y="4846320"/>
            <a:ext cx="9829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opportunity types — Courses, Internships, Competitions, Events, and Engagement Programs — span the full student journey from sign-up through application to final status resolution, drawing on learners from 30+ countries.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Dictionary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variables used across all four weeks of analysis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600200"/>
          <a:ext cx="10881360" cy="41148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Variable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Learner SignUp DateTime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the student registered on the platform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06/14/2023 12:30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Opportunity Category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Course, Internship, Competition, Event, Engagement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Internship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Apply Date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the student submitted their application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06/14/2023 12:36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 Code / Description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 / text code tracking outcome progression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1070 / Team Allocated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Country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Country of residence or nationality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Pakistan, India, 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Current/Intended Major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Student's field of study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Computer Science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 of Birth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Used to derive Age for eligibility &amp; segmentation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01/12/2001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Opportunity Start/End Date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Temporal bounds of the opportunity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11/03/2022 – 06/29/2024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Code system: 1010 Applied · 1030 Rejected · 1040 Waitlisted · 1050 Dropped Out · 1070 Team Allocated · 1080 Started · 1110 Withdraw · 1120 Rewards Award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Quality Assessment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categories of quality issues were identified prior to preprocessing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1645920"/>
          <a:ext cx="108813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Quality Check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Potential Impact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 Values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Some records missing dates and status info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Affects timeline &amp; progression analysis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Invalid Date Formats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Malformed timestamps, e.g. 1085640:21:29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correction during preprocessing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Records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Sample/placeholder entries present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Must be removed to avoid skewing results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Consistency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Variations in country, institution, major names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Standardization needed for grouping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Duplicate Entries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Potential duplicate learner records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inflate participation statistics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40080" y="45720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486598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4709160"/>
            <a:ext cx="9784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the participation funnel shows, the most significant drop-offs occur at the application review stage (rejection / waitlisting) and again after team allocation (dropout / withdrawal) — precisely the stages most susceptible to missing or inconsistent status records, reinforcing the need for thorough cleaning before analysis.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Text Field Cleaning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names, learner names, and academic majors were standardized field-by-field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9856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07792" y="187452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8680" y="2560320"/>
            <a:ext cx="3044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Names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304495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Leading/trailing spaces trimmed, converted to Title Case; non-alphabetic entries (e.g. "123456") set to null.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959352"/>
            <a:ext cx="3044952" cy="384048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" y="3977640"/>
            <a:ext cx="2862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"saint louis university" → "Saint Louis University"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25112" y="16916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092" y="1985620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92824" y="187452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29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553712" y="2560320"/>
            <a:ext cx="3044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 First Names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53712" y="2971800"/>
            <a:ext cx="304495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extra spaces, standardized to Title Case; entries with numbers/symbols or placeholder "Nan" nulled out.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53712" y="3959352"/>
            <a:ext cx="3044952" cy="384048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645152" y="3977640"/>
            <a:ext cx="2862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identity fields contain only meaningful values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010144" y="169164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38744" y="1920240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124" y="1985620"/>
            <a:ext cx="372161" cy="37216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277856" y="1874520"/>
            <a:ext cx="1005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110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8238744" y="2560320"/>
            <a:ext cx="3044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Majors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238744" y="2971800"/>
            <a:ext cx="304495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Placeholder responses like "Oth", "Fresher", "Student", "Na" consolidated into one category.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238744" y="3959352"/>
            <a:ext cx="3044952" cy="384048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330184" y="3977640"/>
            <a:ext cx="2862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variants → "Undeclared/Unknown"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affected shown as callouts above · All corrections preserved the underlying record rather than deleting it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Date Field Cleaning &amp; Cumulative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6217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Malformed timestamps were coerced to NaT using pandas errors='coerce'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Corrupted Entries by Date Field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965960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343140" y="1132713"/>
            <a:ext cx="3144520" cy="4281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of Week 1 Cleaning Activities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263640" y="1606550"/>
          <a:ext cx="5303520" cy="230428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Activity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Records Affected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records flagged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Invalid first names cleaned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Invalid institution names cleaned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Placeholder majors standardized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Corrupted date values corrected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2,700+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892040"/>
            <a:ext cx="4671695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57554" y="5029200"/>
            <a:ext cx="4436745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Outcome: the cleaned dataset contains 8,558 records across 16 variables — Internship (5,421), Course (2,037), Event (545), Competition (425), Engagement (130) — ready for cohort analysis and feature engineering in Week 2.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50" dirty="0"/>
          </a:p>
        </p:txBody>
      </p:sp>
      <p:sp>
        <p:nvSpPr>
          <p:cNvPr id="14" name="Text 5"/>
          <p:cNvSpPr/>
          <p:nvPr/>
        </p:nvSpPr>
        <p:spPr>
          <a:xfrm>
            <a:off x="7158355" y="3983355"/>
            <a:ext cx="351409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Status Breakdown (after cleaning)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005955" y="4330192"/>
          <a:ext cx="3818890" cy="2253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Cleaning Re-Verified &amp; Extended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Week 1 baseline was re-verified before new features were engineered — one new issue surfaced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645920"/>
          <a:ext cx="1088136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Cleaning Step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Records Affected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Notes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Apply Date repair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307 repaired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 digits embedded in time component; regex fallback used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 standardization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8,558 rows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 fields converted to pandas Timestamp for duration arithmetic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Institution standardization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19+ variants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Whitespace stripped, Title Case applied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Categorical validation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 invalid values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Gender, Category, Status mapping confirmed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Apply-before-Signup flag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 flagged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Retained for investigation, not removed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 outlier flag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 flagged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 &lt; 15 or &gt; 60 relative to 2024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 incomplete records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 rows dropped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 both Institution Name and Major — only deletion step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Cohort Analysis: Time &amp; Region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Grouping learners by signup month and region reveals where the platform is winning — and losing — engagement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89418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Sign-up Cohorts (Jan 2023 – Mar 2024)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331720"/>
            <a:ext cx="4251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Sign-up volume grew sharply through mid-2023 and again in Jan–Feb 2024, but the success-rate trendline moved the opposite direction — peaking near 85% in March 2023 and falling to roughly 25–33% by early 2024.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&amp; Dropout Rate by Region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40080" y="4160520"/>
          <a:ext cx="5349240" cy="1874520"/>
        </p:xfrm>
        <a:graphic>
          <a:graphicData uri="http://schemas.openxmlformats.org/drawingml/2006/table">
            <a:tbl>
              <a:tblPr/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Learners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Dropout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North America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3,979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South Asia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3,137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51.0%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Africa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1,206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5.5%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Other / RoW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66.8%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309360" y="1645920"/>
            <a:ext cx="5212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 by Region</a:t>
            </a:r>
            <a:endParaRPr lang="en-US" sz="15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172200" y="1965960"/>
          <a:ext cx="53949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0"/>
          <p:cNvSpPr/>
          <p:nvPr/>
        </p:nvSpPr>
        <p:spPr>
          <a:xfrm>
            <a:off x="6309360" y="4114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537960" y="4251960"/>
            <a:ext cx="4754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Despite the largest learner base, North America has the lowest success rate and highest dropout of any region. Africa, a smaller cohort, shows the strongest outcomes — a gap worth investigating for selection criteria or opportunity-type differences.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Opportunity Category Cohorts &amp; Derived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is the starkest divide in the dataset; ten features were engineered to capture it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40080" y="1645920"/>
          <a:ext cx="5577840" cy="2407920"/>
        </p:xfrm>
        <a:graphic>
          <a:graphicData uri="http://schemas.openxmlformats.org/drawingml/2006/table">
            <a:tbl>
              <a:tblPr/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Dropout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Dropped Out (n)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Internship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5,413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21.5%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12.4%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669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Course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2,035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Competition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Engagement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977640"/>
            <a:ext cx="5577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Internships alone account for 669 of the dataset's ~700 total dropouts — effectively the entire attrition problem traces back to one opportunity type.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9514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846320"/>
            <a:ext cx="46634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Profile: learner base is concentrated in the 20–27 age range, consistent with an undergraduate-to-early-career population — supporting Age as a continuous model feature.</a:t>
            </a:r>
            <a:endParaRPr lang="en-US" sz="1100" dirty="0"/>
          </a:p>
        </p:txBody>
      </p:sp>
      <p:sp>
        <p:nvSpPr>
          <p:cNvPr id="6" name="Text 8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Derived Features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537960" y="2048256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739128" y="19202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739128" y="2167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 segmentation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052560" y="2048256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253728" y="19202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Flag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253728" y="216712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Isolates data-entry errors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37960" y="2615184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739128" y="24871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Signup Cohort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39128" y="273405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Month-based grouping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52560" y="2615184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253728" y="248716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To Apply Days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253728" y="273405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 speed proxy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37960" y="3182112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739128" y="305409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Duration Days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39128" y="330098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vs. long engagements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052560" y="3182112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9253728" y="305409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Start Date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253728" y="330098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Avoids biased imputation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537960" y="3749040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739128" y="362102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Outcome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739128" y="386791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prediction target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9052560" y="3749040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9253728" y="362102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Out Flag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9253728" y="386791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churn target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537960" y="4315968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739128" y="418795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 Tenure Days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739128" y="44348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variable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9052560" y="4315968"/>
            <a:ext cx="82296" cy="82296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9253728" y="418795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9253728" y="443484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 countries → 4 groups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Participation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8,588 applications from 3,842 students across 23 opportunities offered through 1,815 institutions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828800"/>
            <a:ext cx="22311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8,588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22311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828800"/>
            <a:ext cx="22311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3,842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47872" y="2514600"/>
            <a:ext cx="22311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students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91072" y="1828800"/>
            <a:ext cx="22311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91072" y="2514600"/>
            <a:ext cx="22311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opportunities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69680" y="16916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34272" y="1828800"/>
            <a:ext cx="223113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34272" y="2514600"/>
            <a:ext cx="22311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applications / student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per Student</a:t>
            </a:r>
            <a:endParaRPr lang="en-US" sz="13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02920" y="3657600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33375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92240" y="35204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3931920"/>
            <a:ext cx="475488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1,443 students (largest group) submitted only one application. Yet 664 students applied to four or more opportunities : a sizable, highly-engaged segment that actively explores the platform. Internships accounted for over 60% of all applications, making them the most popular category, followed by courses. This indicates broad accessibility across institutions with internships driving most engagement.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Engagement Funnel &amp; Status Breakdown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 (41.7%) and Team Allocated (38.3%) dominate the outcome distribution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0080" y="1645920"/>
          <a:ext cx="5394960" cy="4279392"/>
        </p:xfrm>
        <a:graphic>
          <a:graphicData uri="http://schemas.openxmlformats.org/drawingml/2006/table">
            <a:tbl>
              <a:tblPr/>
              <a:tblGrid>
                <a:gridCol w="13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 of Total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Rejected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3,566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41.7%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1040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Waitlisted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1050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Dropped Out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615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1070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Team Allocated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3,273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1080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766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Withdraw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1120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Rewards Award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355080" y="1651254"/>
            <a:ext cx="2707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Countries by Applications</a:t>
            </a:r>
            <a:endParaRPr lang="en-US" sz="15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355080" y="1943100"/>
          <a:ext cx="5464175" cy="3013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6"/>
          <p:cNvSpPr/>
          <p:nvPr/>
        </p:nvSpPr>
        <p:spPr>
          <a:xfrm>
            <a:off x="6355080" y="5147945"/>
            <a:ext cx="5463540" cy="817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and India together contribute ~80% of applications; eight of the top ten majors are technology-related, confirming a STEM-focused, career-development audience.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Acceptance Rate &amp; Gender Distribution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 varies sharply by category; a moderate gender gap tracks STEM field composition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 Rate by Category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96596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6459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Distribution</a:t>
            </a:r>
            <a:endParaRPr lang="en-US" sz="13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1965960"/>
          <a:ext cx="32918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9692640" y="1965960"/>
            <a:ext cx="1874520" cy="3703320"/>
          </a:xfrm>
          <a:prstGeom prst="roundRect">
            <a:avLst>
              <a:gd name="adj" fmla="val 3902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829800" y="21488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58.7%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829800" y="2578608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applicants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829800" y="30632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829800" y="3493008"/>
            <a:ext cx="1600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female applicants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29800" y="4114800"/>
            <a:ext cx="160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gap of ~17.6 points, likely reflecting STEM field composition rather than platform bias.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Fields of Study &amp; Growth Over Time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STEM-dominant applicant pool experiencing consistent year-over-year growth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Fields of Study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965960"/>
          <a:ext cx="54864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93776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Eight of the top ten majors are technology disciplines — confirming a STEM-focused, career-development audience.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16459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by Year</a:t>
            </a:r>
            <a:endParaRPr lang="en-US" sz="13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17920" y="196596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217920" y="45262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46520" y="461772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+28.0% growth from 2023 to 2024 — reflecting rising student adoption. If trends continue, annual applications could exceed 6,000 by 2025.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Patterns, Anomalies &amp; Key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EDA findings translate directly into platform recommendations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Internships dominate applications (63.3%)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8483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record the lowest acceptance rate (21.5%)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+ India = ~80% of applications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strong geographic concentration signal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73075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8.2% post-acceptance attrition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615 dropped out, 85 withdrew after placement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73659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17.6-point gender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10235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58.7% male vs. 41.1% female, tracks STEM 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171907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 YoY application growth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08483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platform trajectory, 2023 → 2024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651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272491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54.2% missing Opportunity Start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09067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duration-based and temporal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6576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373075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records: Apply Date before Sign-up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096512"/>
            <a:ext cx="4983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likely batch-import or time-zone artifacts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Interpretation — A Two-Tier Opportunity Landscape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Acceptance-rate data exposes a sharp structural divide across opportunity types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40080" y="1691640"/>
          <a:ext cx="6400800" cy="2743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Applications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Acceptance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Classification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Engagement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access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access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Course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2,034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Open access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Competition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425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Moderately selective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Internship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5,413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21.5%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Highly selective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554220"/>
            <a:ext cx="6400800" cy="1480820"/>
          </a:xfrm>
          <a:prstGeom prst="roundRect">
            <a:avLst>
              <a:gd name="adj" fmla="val 4103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4683125"/>
            <a:ext cx="5943600" cy="1354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internships attract 63.3% of all applications, this creates a large-scale rejection experience for the majority of platform users — Opportunity Category is therefore likely to be the strongest predictor of success in any future model.12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169164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Retention: Post-Acceptance Attrition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/>
        </p:nvGraphicFramePr>
        <p:xfrm>
          <a:off x="7315200" y="2011680"/>
          <a:ext cx="420624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 of Dataset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Dropped Out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Withdraw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Rejected (pre-placement)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41.6%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Team Allocated / Started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38.3%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315200" y="4251960"/>
            <a:ext cx="4206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dropout after placement is more costly than a rejection at application — effort was already invested by both student and provider.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Interpretation — Demographics, Growth &amp; Data Quality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Concentration, gap, growth, and quality gaps each carry distinct implications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640080" y="1691640"/>
          <a:ext cx="1088136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Interpretation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Implication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 + India = 79.6%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Reach is highly concentrated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Regional outreach &amp; institutional partnerships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58.7% male applicants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Reflects STEM field composition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 acceptance/dropout by gender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28% YoY growth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Platform scaling; supply must keep pace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Scale internship supply alongside demand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54.18% missing start dates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Duration analysis severely limited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Exclude from direct modeling; impute later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Category_Encoded corr. = 0.554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Opportunity type = strongest practical predictor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Prioritize as top feature in modeling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Issues Carried Into Week 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5148072"/>
            <a:ext cx="3246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Start Date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5422392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54.18% missing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742432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Exclude as direct feature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3400" y="50749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80560" y="5148072"/>
            <a:ext cx="3246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End Date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80560" y="5422392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14.75% missing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80560" y="5742432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 in Week 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46720" y="5074920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183880" y="5148072"/>
            <a:ext cx="3246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Date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83880" y="5422392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3.59% missing</a:t>
            </a:r>
            <a:endParaRPr lang="en-US" sz="1400" dirty="0"/>
          </a:p>
        </p:txBody>
      </p:sp>
      <p:sp>
        <p:nvSpPr>
          <p:cNvPr id="6" name="Text 16"/>
          <p:cNvSpPr/>
          <p:nvPr/>
        </p:nvSpPr>
        <p:spPr>
          <a:xfrm>
            <a:off x="8183880" y="5742432"/>
            <a:ext cx="3246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rows for time features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Preparing for Predictive Modeling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binary classification problem: will a student reach a successful outcome?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1554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8,547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77440" y="1764792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1554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6,387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2816352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records (80%)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867912"/>
            <a:ext cx="1554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1,597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77440" y="3867912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records (20%)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3200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919472"/>
            <a:ext cx="1554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47.6%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377440" y="4919472"/>
            <a:ext cx="1371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success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169164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1947672"/>
            <a:ext cx="502920" cy="50292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20" y="2013052"/>
            <a:ext cx="372161" cy="37216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74920" y="19659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89120" y="256032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Target_Success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89120" y="2926080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= Success:  </a:t>
            </a: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Started, Team Allocated, or Rewards Award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389120" y="3657600"/>
            <a:ext cx="31089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= Not Successful:  </a:t>
            </a: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Rejected, Dropped Out, Waitlisted, Applied, Withdraw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89120" y="4663440"/>
            <a:ext cx="2880360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389120" y="4846320"/>
            <a:ext cx="3017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80/20 split preserves class balance across training and test sets. Missing values checked column-by-column before modeling.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09560" y="16916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 Handled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909560" y="210312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Start Date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909560" y="2359152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54.18%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23774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Exclude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909560" y="276148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End Date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909560" y="301752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14.75%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44000" y="303580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909560" y="3419856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Date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909560" y="3675888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3.59%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44000" y="3694176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rows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09560" y="4078224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 SignUp DateTime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909560" y="4334256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3.45%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144000" y="4352544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rows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909560" y="4736592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/ Major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909560" y="4992624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0.07% / 0.06%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144000" y="5010912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rows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Engineering &amp; Correlation with Target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Eight features engineered; correlation confirms Opportunity Category as the top practical predictor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40080" y="1691640"/>
          <a:ext cx="6766560" cy="43616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Correlation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Interpretation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 Code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0.881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Strongest — directly encodes outcome progression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Category_Encoded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Strong — opportunity type heavily determines success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Signup_Month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0.073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Weak positive — mild seasonal effect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Gender_Encoded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0.026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weak — minimal linear effect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Signup_Year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Negligible — cohort year alone not predictive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Days_Signup_to_Apply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-0.016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Negligible linear — may have non-linear 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-0.019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Negligible — age alone not predictive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Apps_Per_Student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-0.086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Slight negative — high-volume applicants less targeted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6916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8120" y="18745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 by Category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8120" y="228600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66960" y="22860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96.9%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18120" y="265176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18120" y="299923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6960" y="2999232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96.3%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18120" y="3364992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18120" y="3712464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66960" y="3712464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93.2%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18120" y="4078224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18120" y="442569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4425696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84.2%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18120" y="4791456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8"/>
          <p:cNvSpPr/>
          <p:nvPr/>
        </p:nvSpPr>
        <p:spPr>
          <a:xfrm>
            <a:off x="7818120" y="513892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66960" y="513892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21.5%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818120" y="5504688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algorithms evaluated on Accuracy, Precision, Recall, F1-Score, and ROC-AUC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640080" y="1645920"/>
          <a:ext cx="10881360" cy="2084832"/>
        </p:xfrm>
        <a:graphic>
          <a:graphicData uri="http://schemas.openxmlformats.org/drawingml/2006/table">
            <a:tbl>
              <a:tblPr/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F1-Score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ROC-AUC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85.60%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91.20%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77.36%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83.71%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89.85%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KNN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83.47%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85.21%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79.19%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82.09%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90.00%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85.28%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90.38%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77.49%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83.44%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91.28%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84.47%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84.77%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82.33%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83.53%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91.94%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XGBoost (Best)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86.10%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91.69%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78.01%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84.30%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92.96%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by Model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4251960"/>
          <a:ext cx="5394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393192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XGBoost — Best Model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37960" y="4498848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on 1,597 held-out test </a:t>
            </a: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</a:t>
            </a: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37960" y="48463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779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52120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052560" y="48463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596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9052560" y="52120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7960" y="555955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54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37960" y="592531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052560" y="555955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168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9052560" y="5925312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Matrices — All Five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set: 1,597 records. Each model classifies unsuccessful (0) vs. successful (1) outcomes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084832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8653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776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00784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00784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00784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00784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00784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5577840"/>
            <a:ext cx="18653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85.6% correct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71216" y="1691640"/>
            <a:ext cx="2084832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80944" y="1828800"/>
            <a:ext cx="18653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54096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54096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728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054096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0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931920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54096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54096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159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054096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31920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931920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80944" y="5577840"/>
            <a:ext cx="18653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83.5% correct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02352" y="1691640"/>
            <a:ext cx="2084832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2080" y="1828800"/>
            <a:ext cx="18653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85232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85232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770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285232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63056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63056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163056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85232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85232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172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285232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63056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63056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592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163056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5577840"/>
            <a:ext cx="18653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85.3% correct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33488" y="1691640"/>
            <a:ext cx="2084832" cy="42976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43216" y="1828800"/>
            <a:ext cx="18653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16368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16368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720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7516368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94192" y="246888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94192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113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394192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516368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16368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135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7516368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394192" y="3429000"/>
            <a:ext cx="859536" cy="868680"/>
          </a:xfrm>
          <a:prstGeom prst="rect">
            <a:avLst/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94192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629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8394192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43216" y="5577840"/>
            <a:ext cx="18653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84.5% correct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564624" y="1691640"/>
            <a:ext cx="2084832" cy="429768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674352" y="1828800"/>
            <a:ext cx="18653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(Best)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747504" y="2468880"/>
            <a:ext cx="859536" cy="86868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747504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779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9747504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0625328" y="2468880"/>
            <a:ext cx="859536" cy="86868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625328" y="254203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54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10625328" y="299923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747504" y="3429000"/>
            <a:ext cx="859536" cy="86868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747504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168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9747504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625328" y="3429000"/>
            <a:ext cx="859536" cy="86868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0625328" y="3502152"/>
            <a:ext cx="859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596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10625328" y="3959352"/>
            <a:ext cx="859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674352" y="5577840"/>
            <a:ext cx="18653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86.1% correct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Actually Drives Success?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was remarkably consistent across all five algorithms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Feature Importance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965960"/>
          <a:ext cx="56692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Cross-Model Comparison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40080" y="5303520"/>
          <a:ext cx="5374640" cy="868680"/>
        </p:xfrm>
        <a:graphic>
          <a:graphicData uri="http://schemas.openxmlformats.org/drawingml/2006/table">
            <a:tbl>
              <a:tblPr/>
              <a:tblGrid>
                <a:gridCol w="148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KNN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Category_Encoded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46.1%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85.7%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74.5%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26.4%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Signup_Year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3.4%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10.8%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12.2%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180274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8040" y="17099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Category dominates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178040" y="2066544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74.5% of predictive power in XGBoost; 85.7% in the Decision Tree — the single strongest lever.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92240" y="2907792"/>
            <a:ext cx="502920" cy="502920"/>
          </a:xfrm>
          <a:prstGeom prst="ellipse">
            <a:avLst/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620" y="2973172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28803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 matters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178040" y="3236976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Signup Year and Signup Month rank 2nd and 3rd, pointing to seasonal, semester-aligned engagement patterns.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92240" y="4078224"/>
            <a:ext cx="502920" cy="502920"/>
          </a:xfrm>
          <a:prstGeom prst="ellipse">
            <a:avLst/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620" y="4143604"/>
            <a:ext cx="372161" cy="3721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78040" y="405079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over demographics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7178040" y="4407408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Days_Signup_to_Apply and Apps_Per_Student add moderate signal on engagement intent.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92240" y="5248656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620" y="5314036"/>
            <a:ext cx="372161" cy="372161"/>
          </a:xfrm>
          <a:prstGeom prst="rect">
            <a:avLst/>
          </a:prstGeom>
        </p:spPr>
      </p:pic>
      <p:sp>
        <p:nvSpPr>
          <p:cNvPr id="9" name="Text 16"/>
          <p:cNvSpPr/>
          <p:nvPr/>
        </p:nvSpPr>
        <p:spPr>
          <a:xfrm>
            <a:off x="7178040" y="522122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demographic bias detected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7178040" y="5577840"/>
            <a:ext cx="42976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and Gender consistently rank lowest across all five models.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Participation Probability &amp; Heatmap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probability scores translate into a four-tier priority scale for program managers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Probability → Priority Scale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9728" cy="594360"/>
          </a:xfrm>
          <a:prstGeom prst="rect">
            <a:avLst/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084832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80% – 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8483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9728" cy="594360"/>
          </a:xfrm>
          <a:prstGeom prst="rect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862072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60% – 79%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86207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Priority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9728" cy="594360"/>
          </a:xfrm>
          <a:prstGeom prst="rect">
            <a:avLst/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639312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40% – 59%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63931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39496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728" cy="594360"/>
          </a:xfrm>
          <a:prstGeom prst="rect">
            <a:avLst/>
          </a:prstGeom>
          <a:solidFill>
            <a:srgbClr val="B3261E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416552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Below 40%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416552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888236"/>
            <a:ext cx="338328" cy="338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32320" y="182880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× Region Heatmap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537960" y="2331720"/>
            <a:ext cx="4800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 consistently shows the highest success rates across all opportunity categories, while North America generally records the lowest — regardless of category, geography compounds the internship challenge.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09360" y="3977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219956"/>
            <a:ext cx="338328" cy="33832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32320" y="416052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× Month Heatmap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537960" y="4663440"/>
            <a:ext cx="4800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rates peak during January–February and August–September, aligned with academic semester starts. June–July shows the lowest engagement, likely reflecting summer break.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Drivers &amp; Insights for Program Managers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interpretation translated into five actionable operational insights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4592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on Opportunity Design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94960" y="1645920"/>
            <a:ext cx="6126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is the strongest predictor — review structure &amp; requirements of lower-performing categories.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542032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Recruitment with Performance Periods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2542032"/>
            <a:ext cx="6126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campaigns during historically stronger enrollment periods (semester starts).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46704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438144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Predictive Scores for Early Intervention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94960" y="3438144"/>
            <a:ext cx="6126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of 0.9296 supports reliable identification of at-risk students for targeted outreach.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3799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334256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Application Timing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4334256"/>
            <a:ext cx="6126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Days_Signup_to_Apply is a consistent predictor — engagement strategies for delayed applicants.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138928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52760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230368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 Regional Differences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394960" y="5230368"/>
            <a:ext cx="6126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why some regions consistently outperform others and replicate successful practices.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Evidence-Based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insights derived from modeling results, prioritized by predictive impact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Category Design Is the Most Impactful Lever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Courses, Events, and Engagement achieve the highest success; Internships and Competitions consistently underperform.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07992" y="18745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7992" y="187452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07992" y="225856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 Timing Should Align with the Academic Calendar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07992" y="304495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rates peak Jan–Feb and Aug–Sep, coinciding with semester starts; June–July is weakest.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0144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93024" y="18745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93024" y="187452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93024" y="225856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Probability Scores Enable Proactive Intervention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93024" y="304495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of 0.9296 supports using the model as an operational early-warning tool, not just research output.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9028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Timing Reveals Engagement Levels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537667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Days_Signup_to_Apply ranks 3rd–4th in importance; rapid application suggests higher intrinsic motivation.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07992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07992" y="420624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07992" y="459028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Performance Gaps Warrant Investigation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07992" y="537667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 outperforms despite lower volumes; North America underperforms despite higher volumes.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10144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93024" y="4206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93024" y="4206240"/>
            <a:ext cx="777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93024" y="4590288"/>
            <a:ext cx="313639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Evidence of Demographic Bias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193024" y="5376672"/>
            <a:ext cx="313639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and Gender produce the lowest feature importance across all models — an important equity finding.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Prioritized Actionable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outputs translated into a strategy with clear rationale for each priority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819656"/>
            <a:ext cx="3931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Redesign Lower-Performing Categories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404872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structure, commitment demands, and application requirements for Internships and Competitions.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1856232"/>
            <a:ext cx="0" cy="96012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837944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112264"/>
            <a:ext cx="5394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Opportunity Category = 74.5% of XGBoost's predictive weight — the single highest-leverage improvement area.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355848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3558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300984"/>
            <a:ext cx="3931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Recruitment with Academic Calendars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88620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Concentrate marketing and recruitment budgets on Jan–Feb and Aug–Sep windows.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3337560"/>
            <a:ext cx="0" cy="96012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0" y="3319272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593592"/>
            <a:ext cx="5394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heatmaps and Signup_Month importance (ranked 3rd) confirm engagement peaks at semester start.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54296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8680" y="4837176"/>
            <a:ext cx="502920" cy="50292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83717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4782312"/>
            <a:ext cx="3931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Early-Warning Outreach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5367528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XGBoost probability scores to flag students below 60% success probability.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4818888"/>
            <a:ext cx="0" cy="96012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480060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5074920"/>
            <a:ext cx="5394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Shifts the program from reactive tracking to proactive, targeted mentoring and intervention.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 Solutions &amp; Measurement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Tactical mechanisms and the KPIs used to track their success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Solutions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07111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8424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Behavioral Nudges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2322576"/>
            <a:ext cx="4846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SMS/email nudge if a student registers but doesn't apply within 14 days.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12267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03580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Segmentation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3374136"/>
            <a:ext cx="4846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by application velocity and category interest, not demographics.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1742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408736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Cross-Regional Knowledge Transfer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4425696"/>
            <a:ext cx="4846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Africa's mentorship/peer-referral structures for replication elsewhere.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1645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 Framework (KPIs)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263640" y="2011680"/>
          <a:ext cx="5303520" cy="22677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KPI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Category Conversion Lift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MoM success rate for Internships &amp; Competitions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Application Velocity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Avg. Days_Signup_to_Apply across new cohorts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High-Risk Retention Rate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success of students initially &lt;60% score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6263640" y="4544568"/>
            <a:ext cx="5303520" cy="1444752"/>
          </a:xfrm>
          <a:prstGeom prst="roundRect">
            <a:avLst>
              <a:gd name="adj" fmla="val 3902"/>
            </a:avLst>
          </a:prstGeom>
          <a:solidFill>
            <a:srgbClr val="21295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492240" y="4629912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Reliability &amp; Limitations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92240" y="4782312"/>
            <a:ext cx="4846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rests on consistent findings across 5 algorithms, ROC-AUC 0.8985–0.9296, and F1-Scores 82–84%. Limitations: historical scope, limited behavioral variables, regional imbalance, no academic-performance data, and a binary success definition.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Personal Insights &amp; Process Suggestions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Reflections from the internship experience and recommendations for future cohorts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Insights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235708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121408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Communication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2450592"/>
            <a:ext cx="44348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Distributed, international teamwork demanded precise, structured updates across time zones.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2960" y="354787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3607308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493008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Cross-Time-Zone Collaboration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417320" y="3822192"/>
            <a:ext cx="44348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real-time task windows underscored the value of proactive check-ins and visible availability.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7548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5F7FA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" y="491947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978908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864608"/>
            <a:ext cx="4434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Self-Awareness on Work Conditions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417320" y="5193792"/>
            <a:ext cx="44348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Clarified what supports peak performance: structured allocation, clear onboarding, overlapping hours.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63640" y="164592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Improvement Suggestions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263640" y="20116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76" y="225399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2212848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Task Allocation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92240" y="2606040"/>
            <a:ext cx="4846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informal, real-time task claiming with a structured allocation process at the start of each sprint — e.g. a shared board where roles are assigned transparently regardless of time zone.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263640" y="4160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492240" y="4343400"/>
            <a:ext cx="457200" cy="457200"/>
          </a:xfrm>
          <a:prstGeom prst="ellipse">
            <a:avLst/>
          </a:prstGeom>
          <a:solidFill>
            <a:srgbClr val="E8F1F5"/>
          </a:solidFill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402836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86600" y="4361688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Mapping at Onboarding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492240" y="4754880"/>
            <a:ext cx="4846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each intern's skill set at the start and share it with the team lead, so assignments intentionally stretch actual capabilities rather than relying on self-advocacy in a fast-moving group.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— Full Consolidated Report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85760" y="0"/>
            <a:ext cx="4206240" cy="4206240"/>
          </a:xfrm>
          <a:prstGeom prst="ellipse">
            <a:avLst/>
          </a:prstGeom>
          <a:solidFill>
            <a:srgbClr val="1C7293">
              <a:alpha val="5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Participation Success Is Driven by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and Timing — Not Demographics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86.10%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9923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0440" y="233172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33172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74.5%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217920" y="299923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importance: Opportunity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15400" y="233172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8,547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299923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analyzed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0424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data cleaning through predictive modeling, four weeks of work converged on one clear narrative: redesigning internship pathways, aligning recruitment with the academic calendar, and deploying early-warning outreach offer the platform's highest-leverage opportunities to improve participation outcomes.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RIT Opportunity Data Project  ·  Excelerate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3718</Words>
  <Application>Microsoft Office PowerPoint</Application>
  <PresentationFormat>Widescreen</PresentationFormat>
  <Paragraphs>828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 Opportunity Data — Full Consolidated Report</dc:title>
  <dc:subject>PptxGenJS Presentation</dc:subject>
  <dc:creator>RIT Opportunity Data Team</dc:creator>
  <cp:lastModifiedBy>Rameen Shahzad Yousaf</cp:lastModifiedBy>
  <cp:revision>12</cp:revision>
  <dcterms:created xsi:type="dcterms:W3CDTF">2026-07-02T17:10:00Z</dcterms:created>
  <dcterms:modified xsi:type="dcterms:W3CDTF">2026-07-04T20:15:35Z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BC5C67DAEED24382BC87186B608DFBF4_12</vt:lpwstr>
  </property>
</Properties>
</file>